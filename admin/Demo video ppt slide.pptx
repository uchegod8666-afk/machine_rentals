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autoCompressPictures="0">
  <p:sldMasterIdLst>
    <p:sldMasterId id="2147483686" r:id="rId5"/>
    <p:sldMasterId id="2147483718" r:id="rId6"/>
  </p:sldMasterIdLst>
  <p:notesMasterIdLst>
    <p:notesMasterId r:id="rId15"/>
  </p:notesMasterIdLst>
  <p:handoutMasterIdLst>
    <p:handoutMasterId r:id="rId16"/>
  </p:handoutMasterIdLst>
  <p:sldIdLst>
    <p:sldId id="283" r:id="rId7"/>
    <p:sldId id="287" r:id="rId8"/>
    <p:sldId id="282" r:id="rId9"/>
    <p:sldId id="284" r:id="rId10"/>
    <p:sldId id="285" r:id="rId11"/>
    <p:sldId id="286" r:id="rId12"/>
    <p:sldId id="289" r:id="rId13"/>
    <p:sldId id="290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1974"/>
    <a:srgbClr val="A92082"/>
    <a:srgbClr val="3265A3"/>
    <a:srgbClr val="712177"/>
    <a:srgbClr val="0000FF"/>
    <a:srgbClr val="E88A2A"/>
    <a:srgbClr val="D0D8E8"/>
    <a:srgbClr val="E5BAD2"/>
    <a:srgbClr val="F1DCE7"/>
    <a:srgbClr val="E0A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723" autoAdjust="0"/>
  </p:normalViewPr>
  <p:slideViewPr>
    <p:cSldViewPr snapToGrid="0" snapToObjects="1">
      <p:cViewPr varScale="1">
        <p:scale>
          <a:sx n="47" d="100"/>
          <a:sy n="47" d="100"/>
        </p:scale>
        <p:origin x="52" y="3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3.xm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97B178-A91E-4469-9EA0-E1527DD95F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08EF4-5C79-4AFA-9899-96E6946346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BA139-3B7E-490D-ACEE-802017B6EB01}" type="datetime4">
              <a:rPr lang="en-GB" smtClean="0"/>
              <a:t>16 April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1BFB4-60B9-4A76-A7B3-8D6EB8E34B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1AAA7-7909-48FE-B0CF-8A2C6C41BF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EAEF9-FBB2-4B13-9653-5C8FF93FDD41}" type="slidenum">
              <a:rPr lang="en-GB" smtClean="0"/>
              <a:t>‹#›</a:t>
            </a:fld>
            <a:endParaRPr lang="en-GB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03150338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3C0F8-154A-422E-ABE0-9613BBA3C2C3}" type="datetime4">
              <a:rPr lang="en-GB" smtClean="0"/>
              <a:t>16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D17DF-788C-A04E-AECC-79B89994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3197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D6CDEE8-B750-A3C6-0C55-77BFBC0A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534E014-862A-646E-770E-DDA1DEA41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7889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17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1BCADC8-E81A-39A5-2FDE-EE7AF069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61DD616-BBBF-1CA7-0A6E-DB116137D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431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A0D5D64-37AE-E8E1-A229-D8F16F747B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D6FA8DF-7DBE-E3C0-9DC7-14B446E86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27A1A72-8419-4BF9-39A6-4B9BE712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35C6BC4-C4F1-F4DE-6EB8-D3C1A9F3C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839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AD698D-D09A-4448-8CC9-6FDB6E9986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48AF8AF-7F9A-D46B-EF6F-77FDE66126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FC20479-E8D0-CFB3-E3AC-2E39D40A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EDEE7A4-EE7E-2196-0E5C-2E9C34FF1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602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35B80BA-D356-3610-BF65-202EFD645C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D870580-5ABC-C2A0-E8A5-FB14C70E88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C20E5C6-D5E3-68BC-982A-76AC66EC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80C36A2-0162-27CB-AA52-88D88A530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8441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191426-F98B-5C9D-86F4-CEB3AE0A96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CB5A26F-3A29-66C1-4A91-57F3A640BD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57F04DD-E361-506F-3569-CE7E5765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9D09E61-0CBE-EF7B-21D3-5DA63F6A3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1576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958755C-14D1-105B-F695-5CA66AD12A7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8899F69-6BAE-A353-9161-4BDF720338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D043446-E056-D254-CD32-EDBBAFE41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E7575CC-2031-1E88-8D8C-7430C334D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8169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A74F23-E496-2BE1-3F5D-D929F0F82D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49A9D5A-4DF8-BF9A-89FF-EF3781923B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AF515E4-AB1A-B508-5B27-62EA659E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29FDF75-641F-2CD8-0B4C-D6B3E6A5F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1306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21C7CDD-4864-6E73-1196-F508A642D3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963" y="1891795"/>
            <a:ext cx="11268075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6FF9B70-DB71-4F56-D5CF-295FFAC63C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963" y="2791795"/>
            <a:ext cx="11268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606EFF-E15E-D6D4-1475-FA2FE182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0387E6D-CAFB-43E0-CEC6-536DD9F0D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4114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1963" y="1746783"/>
            <a:ext cx="11268075" cy="1080000"/>
          </a:xfrm>
          <a:prstGeom prst="rect">
            <a:avLst/>
          </a:prstGeom>
        </p:spPr>
        <p:txBody>
          <a:bodyPr anchor="b"/>
          <a:lstStyle>
            <a:lvl1pPr>
              <a:defRPr sz="60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1963" y="3087962"/>
            <a:ext cx="11268000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13" y="2905641"/>
            <a:ext cx="11160125" cy="0"/>
          </a:xfrm>
          <a:prstGeom prst="line">
            <a:avLst/>
          </a:prstGeom>
          <a:ln w="25400">
            <a:solidFill>
              <a:srgbClr val="712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F72FFD7-EB69-6E88-46A5-9097D657A7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40AF629-886D-BF71-DED6-569426139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501300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1BDA-D7DC-64DA-2D6A-ECB5077AD8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1" y="1015843"/>
            <a:ext cx="11268075" cy="720727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1962" y="1844675"/>
            <a:ext cx="11268075" cy="4321177"/>
          </a:xfrm>
          <a:prstGeom prst="rect">
            <a:avLst/>
          </a:prstGeom>
        </p:spPr>
        <p:txBody>
          <a:bodyPr/>
          <a:lstStyle>
            <a:lvl1pPr marL="230400" indent="-2304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rgbClr val="69216A"/>
                </a:solidFill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solidFill>
                  <a:srgbClr val="69216A"/>
                </a:solidFill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70797DA-1C9C-3AEA-0D79-5B49AE65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4E5597D-152D-6635-7C1D-ACFDAA144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513291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5D55C1-6975-5722-8F92-2638F03B39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3" y="1016000"/>
            <a:ext cx="11268075" cy="720727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1963" y="1844675"/>
            <a:ext cx="5544038" cy="4321176"/>
          </a:xfrm>
          <a:prstGeom prst="rect">
            <a:avLst/>
          </a:prstGeom>
        </p:spPr>
        <p:txBody>
          <a:bodyPr/>
          <a:lstStyle>
            <a:lvl1pPr marL="230400" indent="-2304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rgbClr val="69216A"/>
                </a:solidFill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solidFill>
                  <a:srgbClr val="69216A"/>
                </a:solidFill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43273D-98E9-D830-D399-EC1FD0E41F1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85999" y="1844675"/>
            <a:ext cx="5544038" cy="4321175"/>
          </a:xfrm>
          <a:prstGeom prst="rect">
            <a:avLst/>
          </a:prstGeom>
        </p:spPr>
        <p:txBody>
          <a:bodyPr/>
          <a:lstStyle>
            <a:lvl1pPr marL="230400" indent="-2304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rgbClr val="69216A"/>
                </a:solidFill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solidFill>
                  <a:srgbClr val="69216A"/>
                </a:solidFill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E876043-10F8-09B1-35EF-271911EC7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8547CC8-5592-A754-F10B-CB1E29E56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8907993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3D68DB0-669F-76E2-C3B1-C74869702A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2" y="1016000"/>
            <a:ext cx="11268075" cy="720725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1960" y="1838365"/>
            <a:ext cx="5544038" cy="5334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8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964" y="2473405"/>
            <a:ext cx="5544036" cy="3692443"/>
          </a:xfrm>
          <a:prstGeom prst="rect">
            <a:avLst/>
          </a:prstGeom>
        </p:spPr>
        <p:txBody>
          <a:bodyPr/>
          <a:lstStyle>
            <a:lvl1pPr marL="230400" indent="-2304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>
                <a:solidFill>
                  <a:srgbClr val="69216A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solidFill>
                  <a:srgbClr val="69216A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sz="1800">
                <a:solidFill>
                  <a:srgbClr val="69216A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5998" y="1838365"/>
            <a:ext cx="5544037" cy="5334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6000" y="2473406"/>
            <a:ext cx="5544036" cy="3692444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lang="en-US" sz="2800" b="0" kern="1200" dirty="0">
                <a:solidFill>
                  <a:srgbClr val="69216A"/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rgbClr val="69216A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sz="1800">
                <a:solidFill>
                  <a:srgbClr val="69216A"/>
                </a:solidFill>
                <a:latin typeface="+mn-lt"/>
              </a:defRPr>
            </a:lvl5pPr>
          </a:lstStyle>
          <a:p>
            <a:pPr marL="230400" lvl="0" indent="-230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Click to add text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9B5E87A-6CA2-C42A-219D-81F36DFC803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E72677D-97D8-224F-1B4C-B01D74AD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4907130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1962" y="1019209"/>
            <a:ext cx="4207437" cy="1043487"/>
          </a:xfrm>
          <a:prstGeom prst="rect">
            <a:avLst/>
          </a:prstGeom>
        </p:spPr>
        <p:txBody>
          <a:bodyPr anchor="t"/>
          <a:lstStyle>
            <a:lvl1pPr>
              <a:defRPr sz="3600"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61962" y="2227795"/>
            <a:ext cx="4207438" cy="39380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49401" y="1016000"/>
            <a:ext cx="6880638" cy="5149849"/>
          </a:xfrm>
          <a:prstGeom prst="rect">
            <a:avLst/>
          </a:prstGeom>
        </p:spPr>
        <p:txBody>
          <a:bodyPr/>
          <a:lstStyle>
            <a:lvl1pPr marL="230400" indent="-2304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>
                <a:solidFill>
                  <a:srgbClr val="69216A"/>
                </a:solidFill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solidFill>
                  <a:srgbClr val="69216A"/>
                </a:solidFill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solidFill>
                  <a:srgbClr val="69216A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AEFC164-F142-1561-D81A-64BC450C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C68A730-8818-36B2-9727-E0BF4DF52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3394310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Narr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1F0D7B5-5E6D-6B0C-CC63-2D9671C2C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2" y="1016169"/>
            <a:ext cx="11268075" cy="720556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1962" y="1844676"/>
            <a:ext cx="7524073" cy="4321176"/>
          </a:xfrm>
          <a:prstGeom prst="rect">
            <a:avLst/>
          </a:prstGeom>
        </p:spPr>
        <p:txBody>
          <a:bodyPr/>
          <a:lstStyle>
            <a:lvl1pPr marL="230400" indent="-230400"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rgbClr val="69216A"/>
                </a:solidFill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solidFill>
                  <a:srgbClr val="69216A"/>
                </a:solidFill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1977DC8-39A3-74B1-51BE-2723AA1FB4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6100" y="1844675"/>
            <a:ext cx="3563938" cy="43211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308BBB1-AB86-88AE-BC89-FDF7D799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0E76615-3CE3-99BE-356A-618BCEAE0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4710108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DE81-C826-1ABC-AC1B-4D9ED6473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1" y="1016000"/>
            <a:ext cx="11268075" cy="720407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58F4CF4-D8F3-8048-9506-287485B75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850880"/>
            <a:ext cx="3636000" cy="32644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6515C-9E3E-7046-9FD5-C1378AAFD4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963" y="5229849"/>
            <a:ext cx="3636000" cy="936000"/>
          </a:xfrm>
          <a:prstGeom prst="rect">
            <a:avLst/>
          </a:prstGeom>
        </p:spPr>
        <p:txBody>
          <a:bodyPr anchor="ctr"/>
          <a:lstStyle>
            <a:lvl1pPr algn="ctr"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B9D2B71-D8EC-7E4D-BC19-D9D14BFB57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7999" y="1850880"/>
            <a:ext cx="3636000" cy="32644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D88D01F-342E-F240-8730-944CDF58A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7999" y="5229851"/>
            <a:ext cx="3636000" cy="935998"/>
          </a:xfrm>
          <a:prstGeom prst="rect">
            <a:avLst/>
          </a:prstGeom>
        </p:spPr>
        <p:txBody>
          <a:bodyPr anchor="ctr"/>
          <a:lstStyle>
            <a:lvl1pPr algn="ctr"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36ECA95-65E0-8A4F-B2B4-A307E416A3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94036" y="1850880"/>
            <a:ext cx="3636000" cy="32644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D0A6215-E46C-3346-9510-86489B82FF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94038" y="5229849"/>
            <a:ext cx="3636000" cy="935999"/>
          </a:xfrm>
          <a:prstGeom prst="rect">
            <a:avLst/>
          </a:prstGeom>
        </p:spPr>
        <p:txBody>
          <a:bodyPr anchor="ctr"/>
          <a:lstStyle>
            <a:lvl1pPr algn="ctr"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A63A98E-BDEA-82F7-3513-624449BCA64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72FE66E-C159-A907-465A-45AB70D70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138996"/>
      </p:ext>
    </p:extLst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1843-47D9-1D1E-5FFA-9C13B6654C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2" y="1016000"/>
            <a:ext cx="11268075" cy="720725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58F4CF4-D8F3-8048-9506-287485B75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3413" y="1851561"/>
            <a:ext cx="2682000" cy="32695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6515C-9E3E-7046-9FD5-C1378AAFD4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965" y="5229849"/>
            <a:ext cx="2682000" cy="936000"/>
          </a:xfrm>
          <a:prstGeom prst="rect">
            <a:avLst/>
          </a:prstGeom>
        </p:spPr>
        <p:txBody>
          <a:bodyPr anchor="ctr"/>
          <a:lstStyle>
            <a:lvl1pPr algn="ctr"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B9D2B71-D8EC-7E4D-BC19-D9D14BFB57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24161" y="1851561"/>
            <a:ext cx="2682000" cy="32695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ACC3EEA-3A15-705A-51AF-1A71342D27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4163" y="5229850"/>
            <a:ext cx="2682000" cy="936000"/>
          </a:xfrm>
          <a:prstGeom prst="rect">
            <a:avLst/>
          </a:prstGeom>
        </p:spPr>
        <p:txBody>
          <a:bodyPr anchor="ctr"/>
          <a:lstStyle>
            <a:lvl1pPr algn="ctr"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36ECA95-65E0-8A4F-B2B4-A307E416A3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4909" y="1851561"/>
            <a:ext cx="2682000" cy="32695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61AD48A-1454-B8C7-215D-EFD3FB3183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9" y="5229850"/>
            <a:ext cx="2682000" cy="936000"/>
          </a:xfrm>
          <a:prstGeom prst="rect">
            <a:avLst/>
          </a:prstGeom>
        </p:spPr>
        <p:txBody>
          <a:bodyPr anchor="ctr"/>
          <a:lstStyle>
            <a:lvl1pPr algn="ctr"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6257B75D-9500-E14D-A531-C96BE74266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5657" y="1851561"/>
            <a:ext cx="2682000" cy="32695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E46740B-8A84-547D-6D51-C984BD0F8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48036" y="5230631"/>
            <a:ext cx="2682000" cy="935219"/>
          </a:xfrm>
          <a:prstGeom prst="rect">
            <a:avLst/>
          </a:prstGeom>
        </p:spPr>
        <p:txBody>
          <a:bodyPr anchor="ctr"/>
          <a:lstStyle>
            <a:lvl1pPr algn="ctr">
              <a:defRPr sz="1800" b="0">
                <a:solidFill>
                  <a:schemeClr val="tx1"/>
                </a:solidFill>
                <a:latin typeface="+mn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EBC1888-2A89-23EF-3FF7-A440C4FAEA6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7271817-1199-BC54-07C8-5829A1307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895436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C7ABBBC-5733-EF2B-94BD-5B6757A68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2" y="1016000"/>
            <a:ext cx="11268075" cy="727075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rgbClr val="712177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BEBC465-4229-87D6-5B04-859FBCF8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963" y="6165850"/>
            <a:ext cx="1755131" cy="692150"/>
          </a:xfrm>
          <a:prstGeom prst="rect">
            <a:avLst/>
          </a:prstGeom>
        </p:spPr>
        <p:txBody>
          <a:bodyPr anchor="ctr" anchorCtr="0"/>
          <a:lstStyle>
            <a:lvl1pPr algn="l">
              <a:defRPr sz="1200">
                <a:solidFill>
                  <a:schemeClr val="accent1"/>
                </a:solidFill>
                <a:latin typeface="+mn-lt"/>
              </a:defRPr>
            </a:lvl1pPr>
          </a:lstStyle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CCEAFB1-4379-3ADA-AF74-A7C53C452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3EB5604-00B7-4739-B8B6-0DEE3E239664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706552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RGU logo on purple background">
            <a:extLst>
              <a:ext uri="{FF2B5EF4-FFF2-40B4-BE49-F238E27FC236}">
                <a16:creationId xmlns:a16="http://schemas.microsoft.com/office/drawing/2014/main" id="{A5EBB328-2B58-8FEF-4829-99E373C1F0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61466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CEF1903-7C7C-F695-628F-43E5359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1963" y="375450"/>
            <a:ext cx="2352675" cy="428625"/>
          </a:xfrm>
          <a:prstGeom prst="rect">
            <a:avLst/>
          </a:prstGeom>
        </p:spPr>
      </p:pic>
    </p:spTree>
    <p:custDataLst>
      <p:tags r:id="rId20"/>
    </p:custDataLst>
    <p:extLst>
      <p:ext uri="{BB962C8B-B14F-4D97-AF65-F5344CB8AC3E}">
        <p14:creationId xmlns:p14="http://schemas.microsoft.com/office/powerpoint/2010/main" val="207635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07" r:id="rId10"/>
    <p:sldLayoutId id="2147483708" r:id="rId11"/>
    <p:sldLayoutId id="2147483717" r:id="rId12"/>
    <p:sldLayoutId id="2147483710" r:id="rId13"/>
    <p:sldLayoutId id="2147483714" r:id="rId14"/>
    <p:sldLayoutId id="2147483716" r:id="rId15"/>
    <p:sldLayoutId id="2147483697" r:id="rId16"/>
    <p:sldLayoutId id="2147483696" r:id="rId17"/>
    <p:sldLayoutId id="2147483711" r:id="rId1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r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" userDrawn="1">
          <p15:clr>
            <a:srgbClr val="F26B43"/>
          </p15:clr>
        </p15:guide>
        <p15:guide id="2" pos="7389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9" pos="166" userDrawn="1">
          <p15:clr>
            <a:srgbClr val="F26B43"/>
          </p15:clr>
        </p15:guide>
        <p15:guide id="10" pos="7514" userDrawn="1">
          <p15:clr>
            <a:srgbClr val="F26B43"/>
          </p15:clr>
        </p15:guide>
        <p15:guide id="11" orient="horz" pos="640" userDrawn="1">
          <p15:clr>
            <a:srgbClr val="F26B43"/>
          </p15:clr>
        </p15:guide>
        <p15:guide id="12" orient="horz" pos="1094" userDrawn="1">
          <p15:clr>
            <a:srgbClr val="F26B43"/>
          </p15:clr>
        </p15:guide>
        <p15:guide id="13" orient="horz" pos="11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3"/>
    </p:custDataLst>
    <p:extLst>
      <p:ext uri="{BB962C8B-B14F-4D97-AF65-F5344CB8AC3E}">
        <p14:creationId xmlns:p14="http://schemas.microsoft.com/office/powerpoint/2010/main" val="286378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90" userDrawn="1">
          <p15:clr>
            <a:srgbClr val="F26B43"/>
          </p15:clr>
        </p15:guide>
        <p15:guide id="4" orient="horz" pos="2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ailwindcss.com/" TargetMode="External"/><Relationship Id="rId2" Type="http://schemas.openxmlformats.org/officeDocument/2006/relationships/hyperlink" Target="https://campusmoodle.rgu.ac.uk/course/view.php?id=112183" TargetMode="Externa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tennantco.com/en_gb/blog/can-robotic-cleaning-machines-work-in-industrial-setting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D158-E750-52DA-BD0B-47D7E115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62" y="1016000"/>
            <a:ext cx="11268075" cy="5394960"/>
          </a:xfrm>
        </p:spPr>
        <p:txBody>
          <a:bodyPr/>
          <a:lstStyle/>
          <a:p>
            <a:pPr algn="ctr"/>
            <a:r>
              <a:rPr lang="en-US" sz="4000" dirty="0"/>
              <a:t>INDUSTRIAL CLEANING MACHINE-RENTAL SERVICES</a:t>
            </a:r>
            <a:br>
              <a:rPr lang="en-US" sz="4000" dirty="0"/>
            </a:br>
            <a:br>
              <a:rPr lang="en-US" sz="4000" dirty="0"/>
            </a:br>
            <a:r>
              <a:rPr lang="en-US" sz="3600" b="0" dirty="0">
                <a:solidFill>
                  <a:srgbClr val="00B050"/>
                </a:solidFill>
              </a:rPr>
              <a:t>A Demo-Video Presentation for</a:t>
            </a:r>
            <a:br>
              <a:rPr lang="en-US" sz="3600" b="0" dirty="0">
                <a:solidFill>
                  <a:srgbClr val="00B050"/>
                </a:solidFill>
              </a:rPr>
            </a:br>
            <a:r>
              <a:rPr lang="en-US" sz="3600" b="0" dirty="0">
                <a:solidFill>
                  <a:srgbClr val="00B050"/>
                </a:solidFill>
              </a:rPr>
              <a:t>Intranet Systems Development Coursework (CMM007)</a:t>
            </a:r>
            <a:br>
              <a:rPr lang="en-US" sz="3600" b="0" dirty="0">
                <a:solidFill>
                  <a:srgbClr val="00B050"/>
                </a:solidFill>
              </a:rPr>
            </a:br>
            <a:br>
              <a:rPr lang="en-US" sz="3600" b="0" dirty="0">
                <a:solidFill>
                  <a:srgbClr val="00B050"/>
                </a:solidFill>
              </a:rPr>
            </a:br>
            <a:r>
              <a:rPr lang="en-US" sz="3600" b="0" dirty="0">
                <a:solidFill>
                  <a:srgbClr val="00B050"/>
                </a:solidFill>
              </a:rPr>
              <a:t>By</a:t>
            </a:r>
            <a:br>
              <a:rPr lang="en-US" sz="3600" b="0" dirty="0">
                <a:solidFill>
                  <a:srgbClr val="00B050"/>
                </a:solidFill>
              </a:rPr>
            </a:br>
            <a:br>
              <a:rPr lang="en-US" sz="3600" b="0" dirty="0">
                <a:solidFill>
                  <a:srgbClr val="00B050"/>
                </a:solidFill>
              </a:rPr>
            </a:br>
            <a:r>
              <a:rPr lang="en-US" sz="3600" b="0" dirty="0">
                <a:solidFill>
                  <a:srgbClr val="00B050"/>
                </a:solidFill>
              </a:rPr>
              <a:t>Uchenna Okafor(2428089)</a:t>
            </a:r>
            <a:br>
              <a:rPr lang="en-US" sz="3600" b="0" dirty="0">
                <a:solidFill>
                  <a:srgbClr val="00B050"/>
                </a:solidFill>
              </a:rPr>
            </a:br>
            <a:br>
              <a:rPr lang="en-US" sz="3600" b="0" dirty="0">
                <a:solidFill>
                  <a:srgbClr val="00B050"/>
                </a:solidFill>
              </a:rPr>
            </a:br>
            <a:endParaRPr lang="en-GB" sz="3600" b="0" dirty="0">
              <a:solidFill>
                <a:srgbClr val="00B05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27599-09CE-E8BA-6FB1-D8DF03DC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F626B-D197-7F8C-CEE5-08EE84FAE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EB5604-00B7-4739-B8B6-0DEE3E239664}" type="slidenum">
              <a:rPr lang="en-GB" smtClean="0"/>
              <a:pPr/>
              <a:t>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320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B8CD-219C-8C69-435B-3EB0D57D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 OF THE PROJECT</a:t>
            </a:r>
            <a:br>
              <a:rPr lang="en-US" dirty="0"/>
            </a:br>
            <a:br>
              <a:rPr lang="en-US" dirty="0"/>
            </a:br>
            <a:r>
              <a:rPr lang="en-US" b="0" dirty="0">
                <a:solidFill>
                  <a:srgbClr val="002060"/>
                </a:solidFill>
              </a:rPr>
              <a:t>.</a:t>
            </a:r>
            <a:r>
              <a:rPr lang="en-US" sz="2800" b="0" dirty="0">
                <a:solidFill>
                  <a:srgbClr val="002060"/>
                </a:solidFill>
              </a:rPr>
              <a:t>To secure login for both admins and users</a:t>
            </a:r>
            <a:br>
              <a:rPr lang="en-US" sz="2800" b="0" dirty="0">
                <a:solidFill>
                  <a:srgbClr val="002060"/>
                </a:solidFill>
              </a:rPr>
            </a:br>
            <a:r>
              <a:rPr lang="en-US" sz="2800" b="0" dirty="0">
                <a:solidFill>
                  <a:srgbClr val="002060"/>
                </a:solidFill>
              </a:rPr>
              <a:t>. For admin to be able to manage equipment inventory</a:t>
            </a:r>
            <a:br>
              <a:rPr lang="en-US" sz="2800" b="0" dirty="0">
                <a:solidFill>
                  <a:srgbClr val="002060"/>
                </a:solidFill>
              </a:rPr>
            </a:br>
            <a:r>
              <a:rPr lang="en-US" sz="2800" b="0" dirty="0">
                <a:solidFill>
                  <a:srgbClr val="002060"/>
                </a:solidFill>
              </a:rPr>
              <a:t>. For users to search, rent, and return the machine/equipment</a:t>
            </a:r>
            <a:br>
              <a:rPr lang="en-US" sz="2800" b="0" dirty="0">
                <a:solidFill>
                  <a:srgbClr val="002060"/>
                </a:solidFill>
              </a:rPr>
            </a:br>
            <a:r>
              <a:rPr lang="en-US" sz="2800" b="0" dirty="0">
                <a:solidFill>
                  <a:srgbClr val="002060"/>
                </a:solidFill>
              </a:rPr>
              <a:t>. For real-time updates on equipment availability and rental history</a:t>
            </a:r>
            <a:br>
              <a:rPr lang="en-US" sz="2800" b="0" dirty="0">
                <a:solidFill>
                  <a:srgbClr val="002060"/>
                </a:solidFill>
              </a:rPr>
            </a:br>
            <a:r>
              <a:rPr lang="en-US" sz="2800" b="0" dirty="0">
                <a:solidFill>
                  <a:srgbClr val="002060"/>
                </a:solidFill>
              </a:rPr>
              <a:t>. Finally, the right database to handle the data.</a:t>
            </a:r>
            <a:endParaRPr lang="en-GB" sz="2800" b="0" dirty="0">
              <a:solidFill>
                <a:srgbClr val="00206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02800-5EA6-AFF3-DB64-27ABA5B9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0ACDC-E071-EEFD-3376-EF4719CB3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EB5604-00B7-4739-B8B6-0DEE3E239664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996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ED8352-B503-B29A-F02F-37761FE4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STORIES: FOR ADMIN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E01BFF-6477-BC30-A3A2-C9CA1566F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As an Admin, I want to add new machine to the inventory so that users can   rent it.</a:t>
            </a:r>
          </a:p>
          <a:p>
            <a:r>
              <a:rPr lang="en-US" dirty="0">
                <a:solidFill>
                  <a:srgbClr val="002060"/>
                </a:solidFill>
              </a:rPr>
              <a:t>As an Admin, I want to update equipment details to maintain accurate records.</a:t>
            </a:r>
          </a:p>
          <a:p>
            <a:r>
              <a:rPr lang="en-US" dirty="0">
                <a:solidFill>
                  <a:srgbClr val="002060"/>
                </a:solidFill>
              </a:rPr>
              <a:t>As an Admin, I want to manage user accounts to control system access.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7EED2-D5E9-735C-E911-9DCF78FD5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624" y="6165850"/>
            <a:ext cx="931413" cy="692149"/>
          </a:xfrm>
          <a:prstGeom prst="rect">
            <a:avLst/>
          </a:prstGeom>
        </p:spPr>
        <p:txBody>
          <a:bodyPr/>
          <a:lstStyle/>
          <a:p>
            <a:fld id="{93EB5604-00B7-4739-B8B6-0DEE3E239664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F4FA5-B52C-08B1-A14F-7C27B141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199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932E-B735-AF8F-E2C0-A473CE3E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STORIES: FOR USERS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61AB9-8DF9-FCEF-98E9-516F3FB3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User, I want to search for equipment by name or category to find the tools I need.</a:t>
            </a:r>
          </a:p>
          <a:p>
            <a:r>
              <a:rPr lang="en-US" dirty="0"/>
              <a:t>As a User, I want to rent equipment for a specific duration.</a:t>
            </a:r>
          </a:p>
          <a:p>
            <a:r>
              <a:rPr lang="en-US" dirty="0"/>
              <a:t>As a User, I want to return rented equipment and check my rental history.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72E80-E545-ED05-269F-6C3B2451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C0EB6-1842-7CF4-983D-9E79858DD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EB5604-00B7-4739-B8B6-0DEE3E239664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070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38FC-974E-90EE-3760-2816E88F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PROJECT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702A-9BAD-8C35-EFAD-770B8399F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Tested role-based access restriction</a:t>
            </a:r>
          </a:p>
          <a:p>
            <a:r>
              <a:rPr lang="en-US" dirty="0"/>
              <a:t>Tested invalid and valid login attempts</a:t>
            </a:r>
          </a:p>
          <a:p>
            <a:r>
              <a:rPr lang="en-US" dirty="0"/>
              <a:t>Tested registration of new user</a:t>
            </a:r>
          </a:p>
          <a:p>
            <a:r>
              <a:rPr lang="en-US" dirty="0"/>
              <a:t>Tested renting available equipment</a:t>
            </a:r>
          </a:p>
          <a:p>
            <a:r>
              <a:rPr lang="en-US" dirty="0"/>
              <a:t>Tested returning the rented equipment.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833D-5831-A877-212C-0DC427E8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E32F9-80D1-ECCE-748E-656750AE2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EB5604-00B7-4739-B8B6-0DEE3E239664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508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6D3C-DAEC-DE94-EF0E-41484B60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CHALLENGES/ LIMITATIONS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4445-64F1-5401-4006-96991182B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Structuring the database correctly</a:t>
            </a:r>
          </a:p>
          <a:p>
            <a:r>
              <a:rPr lang="en-US" dirty="0"/>
              <a:t>Duplicating usernames during registration</a:t>
            </a:r>
          </a:p>
          <a:p>
            <a:r>
              <a:rPr lang="en-US" dirty="0"/>
              <a:t>Proper linking of forms</a:t>
            </a:r>
          </a:p>
          <a:p>
            <a:r>
              <a:rPr lang="en-GB" dirty="0"/>
              <a:t>Linking images to the equipment form.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5CA6-3E6A-6239-B1D3-695C4F5C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B49DD-1A40-E4A4-0D0D-D377BDD26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EB5604-00B7-4739-B8B6-0DEE3E239664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4985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98ED-FD81-502F-9AB9-03DCBE53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RECOMMENDATION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2875-C485-A47F-6D50-19F2085AF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objectives achieved.</a:t>
            </a:r>
          </a:p>
          <a:p>
            <a:r>
              <a:rPr lang="en-US" dirty="0"/>
              <a:t>Effective management of the whole app by the admin.</a:t>
            </a:r>
          </a:p>
          <a:p>
            <a:r>
              <a:rPr lang="en-US" dirty="0"/>
              <a:t>Centralized platform for managing machine rentals.</a:t>
            </a:r>
          </a:p>
          <a:p>
            <a:r>
              <a:rPr lang="en-US" dirty="0"/>
              <a:t>Simplified operations like machine listing.</a:t>
            </a:r>
          </a:p>
          <a:p>
            <a:r>
              <a:rPr lang="en-US" dirty="0"/>
              <a:t>Real-time availability tracking</a:t>
            </a:r>
          </a:p>
          <a:p>
            <a:r>
              <a:rPr lang="en-US" dirty="0"/>
              <a:t>Payment integration system</a:t>
            </a:r>
          </a:p>
          <a:p>
            <a:r>
              <a:rPr lang="en-US" dirty="0"/>
              <a:t>Optimize for mobile devices</a:t>
            </a:r>
          </a:p>
          <a:p>
            <a:r>
              <a:rPr lang="en-US" dirty="0"/>
              <a:t>Enable user feedback and rating system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8F0FC-65A0-0888-C66D-546DCCC7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F48BF-A49A-01AD-3E6C-B1642F95C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EB5604-00B7-4739-B8B6-0DEE3E239664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146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9DB3-8F6F-2B11-0555-3BCEE89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043A-15CC-AAEC-F343-EA4B47408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https://campusmoodle.rgu.ac.uk/course/view.php?id=112183</a:t>
            </a:r>
            <a:endParaRPr lang="en-GB" dirty="0"/>
          </a:p>
          <a:p>
            <a:r>
              <a:rPr lang="en-GB" dirty="0">
                <a:hlinkClick r:id="rId3"/>
              </a:rPr>
              <a:t>https://tailwindcss.com/</a:t>
            </a:r>
            <a:endParaRPr lang="en-GB" dirty="0"/>
          </a:p>
          <a:p>
            <a:r>
              <a:rPr lang="en-GB" dirty="0">
                <a:hlinkClick r:id="rId4"/>
              </a:rPr>
              <a:t>https://www.tennantco.com/en_gb/blog/can-robotic-cleaning-machines-work-in-industrial-settings.html</a:t>
            </a:r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F2FA7-52D3-BF89-BF13-3D65ECA1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CA560460-C6EE-49B6-875B-6438497EF71A}" type="datetime4">
              <a:rPr lang="en-GB" smtClean="0"/>
              <a:pPr defTabSz="914400">
                <a:defRPr/>
              </a:pPr>
              <a:t>16 April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9D811-7CF4-3A35-1C84-5AB55DE49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EB5604-00B7-4739-B8B6-0DEE3E239664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40880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CUSTOM DESIGN" val="vUVkqySt"/>
  <p:tag name="ARTICULATE_DESIGN_ID_OFFICE THEME" val="FA2uSEuL"/>
  <p:tag name="ARTICULATE_DESIGN_ID_1_OFFICE THEME" val="oIckjX2H"/>
  <p:tag name="ARTICULATE_SLIDE_THUMBNAIL_REFRESH" val="1"/>
  <p:tag name="ARTICULATE_DESIGN_ID_CUSTOM DESIGN" val="tl6cAD9V"/>
  <p:tag name="ARTICULATE_DESIGN_ID_RGU POWEPOINT THEME" val="jpdPDNJd"/>
  <p:tag name="ARTICULATE_DESIGN_ID_RGU CUSTOM SLIDES" val="X0mKrjsa"/>
  <p:tag name="ARTICULATE_DESIGN_ID_RGU THEME" val="29PEgXa2"/>
  <p:tag name="ARTICULATE_DESIGN_ID_RGU OPTIONAL SLIDES" val="wRYre5VY"/>
  <p:tag name="ARTICULATE_SLIDE_COUNT" val="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RGU Theme">
  <a:themeElements>
    <a:clrScheme name="RGU Colours">
      <a:dk1>
        <a:srgbClr val="000000"/>
      </a:dk1>
      <a:lt1>
        <a:srgbClr val="FFFFFF"/>
      </a:lt1>
      <a:dk2>
        <a:srgbClr val="262626"/>
      </a:dk2>
      <a:lt2>
        <a:srgbClr val="FCFCFC"/>
      </a:lt2>
      <a:accent1>
        <a:srgbClr val="712177"/>
      </a:accent1>
      <a:accent2>
        <a:srgbClr val="B077B8"/>
      </a:accent2>
      <a:accent3>
        <a:srgbClr val="007ABF"/>
      </a:accent3>
      <a:accent4>
        <a:srgbClr val="009FEE"/>
      </a:accent4>
      <a:accent5>
        <a:srgbClr val="9FBF00"/>
      </a:accent5>
      <a:accent6>
        <a:srgbClr val="FFB300"/>
      </a:accent6>
      <a:hlink>
        <a:srgbClr val="007ABF"/>
      </a:hlink>
      <a:folHlink>
        <a:srgbClr val="954F72"/>
      </a:folHlink>
    </a:clrScheme>
    <a:fontScheme name="RGU Corporate PPT Theme fonts">
      <a:majorFont>
        <a:latin typeface="Zona Pro ExtraBold"/>
        <a:ea typeface=""/>
        <a:cs typeface=""/>
      </a:majorFont>
      <a:minorFont>
        <a:latin typeface="Zona Pro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GU Corporate PowerPoint template.pptx" id="{F4D60A2F-DA3B-4430-B62F-5284A31C09B8}" vid="{B4CDA6C3-B377-4E00-9F94-ED16307C0314}"/>
    </a:ext>
  </a:extLst>
</a:theme>
</file>

<file path=ppt/theme/theme2.xml><?xml version="1.0" encoding="utf-8"?>
<a:theme xmlns:a="http://schemas.openxmlformats.org/drawingml/2006/main" name="RGU Optional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GU Corporate PowerPoint template.pptx" id="{F4D60A2F-DA3B-4430-B62F-5284A31C09B8}" vid="{E530473F-9F16-4EB3-A6A1-178EBD07BC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9ce609c-fc47-4f75-a02e-e7e3af340ec0" xsi:nil="true"/>
    <_dlc_DocIdUrl xmlns="19ce609c-fc47-4f75-a02e-e7e3af340ec0">
      <Url xsi:nil="true"/>
      <Description xsi:nil="true"/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68AD7851D87042ADABC2FC5F8D349B" ma:contentTypeVersion="6" ma:contentTypeDescription="Create a new document." ma:contentTypeScope="" ma:versionID="178b937d75a42d0b44dcfa3b941b1c31">
  <xsd:schema xmlns:xsd="http://www.w3.org/2001/XMLSchema" xmlns:xs="http://www.w3.org/2001/XMLSchema" xmlns:p="http://schemas.microsoft.com/office/2006/metadata/properties" xmlns:ns2="4fda59b2-845c-4c8e-9a06-59a686a5ff47" xmlns:ns3="19ce609c-fc47-4f75-a02e-e7e3af340ec0" targetNamespace="http://schemas.microsoft.com/office/2006/metadata/properties" ma:root="true" ma:fieldsID="2ad90a48ce274831f1824800107f4fe7" ns2:_="" ns3:_="">
    <xsd:import namespace="4fda59b2-845c-4c8e-9a06-59a686a5ff47"/>
    <xsd:import namespace="19ce609c-fc47-4f75-a02e-e7e3af340e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da59b2-845c-4c8e-9a06-59a686a5ff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ce609c-fc47-4f75-a02e-e7e3af340ec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14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1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6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D0C4AC-CC0B-46BC-9BC1-0E0419182EE9}">
  <ds:schemaRefs>
    <ds:schemaRef ds:uri="92065e8e-ce6d-43c4-a378-6986ce7bcaac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7d1a146b-7ae7-4e71-bf2a-62127445ba81"/>
    <ds:schemaRef ds:uri="d37d2b9c-0f82-4858-add7-bb4bd8256ea6"/>
    <ds:schemaRef ds:uri="19ce609c-fc47-4f75-a02e-e7e3af340ec0"/>
  </ds:schemaRefs>
</ds:datastoreItem>
</file>

<file path=customXml/itemProps2.xml><?xml version="1.0" encoding="utf-8"?>
<ds:datastoreItem xmlns:ds="http://schemas.openxmlformats.org/officeDocument/2006/customXml" ds:itemID="{516D74CE-C532-4171-9CF8-B1531626C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da59b2-845c-4c8e-9a06-59a686a5ff47"/>
    <ds:schemaRef ds:uri="19ce609c-fc47-4f75-a02e-e7e3af340e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601B53-F3BB-4411-A8FF-E6A999E0C34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42614F1-EC0D-4857-9834-B729C20ECD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RGU PowerPoint template</Template>
  <TotalTime>7427</TotalTime>
  <Words>363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RGU Theme</vt:lpstr>
      <vt:lpstr>RGU Optional Slides</vt:lpstr>
      <vt:lpstr>INDUSTRIAL CLEANING MACHINE-RENTAL SERVICES  A Demo-Video Presentation for Intranet Systems Development Coursework (CMM007)  By  Uchenna Okafor(2428089)  </vt:lpstr>
      <vt:lpstr>EXPECTED OUTCOME OF THE PROJECT  .To secure login for both admins and users . For admin to be able to manage equipment inventory . For users to search, rent, and return the machine/equipment . For real-time updates on equipment availability and rental history . Finally, the right database to handle the data.</vt:lpstr>
      <vt:lpstr>USER STORIES: FOR ADMIN</vt:lpstr>
      <vt:lpstr>USER STORIES: FOR USERS</vt:lpstr>
      <vt:lpstr>TESTING THE PROJECT  </vt:lpstr>
      <vt:lpstr>CHALLENGES/ LIMITATIONS</vt:lpstr>
      <vt:lpstr>CONCLUSION AND RECOMMENDATION</vt:lpstr>
      <vt:lpstr>RERENCES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UCHENNA OKAFOR (2428089)</dc:creator>
  <cp:lastModifiedBy>UCHENNA OKAFOR (2428089)</cp:lastModifiedBy>
  <cp:revision>7</cp:revision>
  <cp:lastPrinted>2018-09-20T16:11:24Z</cp:lastPrinted>
  <dcterms:created xsi:type="dcterms:W3CDTF">2026-04-10T14:05:32Z</dcterms:created>
  <dcterms:modified xsi:type="dcterms:W3CDTF">2026-04-16T08:46:46Z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F75F1C4F-EB77-46F8-B08F-C07331B30AA7</vt:lpwstr>
  </property>
  <property fmtid="{D5CDD505-2E9C-101B-9397-08002B2CF9AE}" pid="3" name="ArticulatePath">
    <vt:lpwstr>LLM001 Commercial Contracting Short Course PPT template</vt:lpwstr>
  </property>
  <property fmtid="{D5CDD505-2E9C-101B-9397-08002B2CF9AE}" pid="4" name="ContentTypeId">
    <vt:lpwstr>0x010100A668AD7851D87042ADABC2FC5F8D349B</vt:lpwstr>
  </property>
  <property fmtid="{D5CDD505-2E9C-101B-9397-08002B2CF9AE}" pid="5" name="MediaServiceImageTags">
    <vt:lpwstr/>
  </property>
  <property fmtid="{D5CDD505-2E9C-101B-9397-08002B2CF9AE}" pid="6" name="_dlc_DocIdItemGuid">
    <vt:lpwstr>f6723a17-1fa7-4a49-8119-a8f386a0b0e8</vt:lpwstr>
  </property>
</Properties>
</file>